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oval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oval">
            <a:avLst/>
          </a:prstGeom>
          <a:solidFill>
            <a:srgbClr val="06D6A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822960"/>
            <a:ext cx="2926080" cy="347472"/>
          </a:xfrm>
          <a:prstGeom prst="rectangle">
            <a:avLst/>
          </a:prstGeom>
          <a:solidFill>
            <a:srgbClr val="8B5CF6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229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 /  PAYMENTS  /  AI-NATIVE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VoidPay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Invoice Layer for the Value Internet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invoice protocol that turns payment requests into cryptographically-bound, privacy-preserving documents — readable by humans and AI agents alike.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pPr indent="0" marL="0">
              <a:buNone/>
            </a:pPr>
            <a:r>
              <a:rPr lang="en-US" sz="14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invoice that works even if we shut down.</a:t>
            </a:r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Payments have no business context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7863840" cy="96012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490472"/>
            <a:ext cx="594360" cy="594360"/>
          </a:xfrm>
          <a:prstGeom prst="oval">
            <a:avLst/>
          </a:prstGeom>
          <a:solidFill>
            <a:srgbClr val="F59E0B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114" y="1579626"/>
            <a:ext cx="416052" cy="4160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3990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context on-chain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03520" y="1463040"/>
            <a:ext cx="1097280" cy="274320"/>
          </a:xfrm>
          <a:prstGeom prst="rectangle">
            <a:avLst/>
          </a:prstGeom>
          <a:solidFill>
            <a:srgbClr val="8B5CF6">
              <a:alpha val="3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30352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645920" y="18288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= token transfers. No line items, no rates, no audit trail.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468880"/>
            <a:ext cx="7863840" cy="96012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2633472"/>
            <a:ext cx="594360" cy="594360"/>
          </a:xfrm>
          <a:prstGeom prst="oval">
            <a:avLst/>
          </a:prstGeom>
          <a:solidFill>
            <a:srgbClr val="8B5CF6">
              <a:alpha val="40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114" y="2722626"/>
            <a:ext cx="416052" cy="4160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25420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 friction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303520" y="2606040"/>
            <a:ext cx="1097280" cy="274320"/>
          </a:xfrm>
          <a:prstGeom prst="rectangle">
            <a:avLst/>
          </a:prstGeom>
          <a:solidFill>
            <a:srgbClr val="8B5CF6">
              <a:alpha val="3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530352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645920" y="29718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API keys, KYC — agents can’t onboard autonomously.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3611880"/>
            <a:ext cx="7863840" cy="96012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3776472"/>
            <a:ext cx="594360" cy="594360"/>
          </a:xfrm>
          <a:prstGeom prst="oval">
            <a:avLst/>
          </a:prstGeom>
          <a:solidFill>
            <a:srgbClr val="F43F5E">
              <a:alpha val="40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3865626"/>
            <a:ext cx="416052" cy="4160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6850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Micropayment economics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303520" y="3749040"/>
            <a:ext cx="1097280" cy="274320"/>
          </a:xfrm>
          <a:prstGeom prst="rectangle">
            <a:avLst/>
          </a:prstGeom>
          <a:solidFill>
            <a:srgbClr val="8B5CF6">
              <a:alpha val="30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5303520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645920" y="41148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$0.30+ fees kill cent-level LLM and API requests.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40080" y="4434840"/>
            <a:ext cx="3749040" cy="411480"/>
          </a:xfrm>
          <a:prstGeom prst="rectangle">
            <a:avLst/>
          </a:prstGeom>
          <a:solidFill>
            <a:srgbClr val="0F3D0F">
              <a:alpha val="6000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822960" y="4434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— structured, machine-readable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754880" y="4434840"/>
            <a:ext cx="3749040" cy="411480"/>
          </a:xfrm>
          <a:prstGeom prst="rectangle">
            <a:avLst/>
          </a:prstGeom>
          <a:solidFill>
            <a:srgbClr val="3D0F0F">
              <a:alpha val="6000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4937760" y="4434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Tx — blind transfer, no context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trends converging in 2025–2026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749040" cy="137160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00200"/>
            <a:ext cx="457200" cy="457200"/>
          </a:xfrm>
          <a:prstGeom prst="oval">
            <a:avLst/>
          </a:prstGeom>
          <a:solidFill>
            <a:srgbClr val="06D6A0">
              <a:alpha val="4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x402 Protocol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057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Coinbase HTTP 402 payments (May 2025). 100M+ txs, $24M volume by EOY 2025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Web-native payments — adoption proven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3749040" cy="137160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600200"/>
            <a:ext cx="457200" cy="457200"/>
          </a:xfrm>
          <a:prstGeom prst="oval">
            <a:avLst/>
          </a:prstGeom>
          <a:solidFill>
            <a:srgbClr val="06D6A0">
              <a:alpha val="40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6687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600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37760" y="2057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GPT, Devin — autonomous agents with budgets. $30T agent economy by 2030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machine-readable invoice format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017520"/>
            <a:ext cx="3749040" cy="137160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3154680"/>
            <a:ext cx="457200" cy="457200"/>
          </a:xfrm>
          <a:prstGeom prst="oval">
            <a:avLst/>
          </a:prstGeom>
          <a:solidFill>
            <a:srgbClr val="06D6A0">
              <a:alpha val="40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32232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154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Cheap L2s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2960" y="3611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finality 2s, fees &lt; $0.001. Solana: 400ms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22960" y="3977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Per-API-request micropayments viable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3017520"/>
            <a:ext cx="3749040" cy="137160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937760" y="3154680"/>
            <a:ext cx="457200" cy="457200"/>
          </a:xfrm>
          <a:prstGeom prst="oval">
            <a:avLst/>
          </a:prstGeom>
          <a:solidFill>
            <a:srgbClr val="06D6A0">
              <a:alpha val="40000"/>
            </a:srgbClr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22326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32120" y="3154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Stablecoin Regulation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937760" y="3611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 (EU), US Stablecoin Bill. EIP-3009 native in USDC/EURC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937760" y="3977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adoption — compliance ready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4008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is ready. The invoice layer is the only missing piece — we’re building it.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What’s Built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0" y="365760"/>
            <a:ext cx="822960" cy="320040"/>
          </a:xfrm>
          <a:prstGeom prst="rectangle">
            <a:avLst/>
          </a:prstGeom>
          <a:solidFill>
            <a:srgbClr val="06D6A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657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Zero-backend invoicing — live today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7863840" cy="164592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InvoiceForm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417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6888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Binary V3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+ Base62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0" y="1417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URL Hash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0" y="1417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3504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InvoicePaper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2148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→ Wallet → On-chain tx → Magic Dust matching → Verified ✓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2468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 client — hash fragment is not sent to server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2971800"/>
            <a:ext cx="2514600" cy="731520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971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28800" y="3017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28800" y="33375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is the database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29000" y="2971800"/>
            <a:ext cx="2514600" cy="731520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2971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bytes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17720" y="3017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 to server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17720" y="33375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fragment never transmitted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2971800"/>
            <a:ext cx="2514600" cy="731520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2971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2 KB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406640" y="3017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size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06640" y="33375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QR-scannable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3840480"/>
            <a:ext cx="2514600" cy="731520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3840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Immutable v1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828800" y="3886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versioning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828800" y="42062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work forever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29000" y="3840480"/>
            <a:ext cx="2514600" cy="731520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37" name="Text 35"/>
          <p:cNvSpPr/>
          <p:nvPr/>
        </p:nvSpPr>
        <p:spPr>
          <a:xfrm>
            <a:off x="3520440" y="3840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EVM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617720" y="3886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617720" y="42062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Ethereum, Arbitrum, Optimism, Polygon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3840480"/>
            <a:ext cx="2514600" cy="731520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3840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2,021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406640" y="3886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406640" y="42062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Passing, 69% coverage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0080" y="4709160"/>
            <a:ext cx="7863840" cy="320040"/>
          </a:xfrm>
          <a:prstGeom prst="rectangl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Dust: unique micro-amount (e.g. +0.000042 USDC) for deterministic payment matching — exact amount = exact invoice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invoice to verified payment in 3 steps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606040" cy="301752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00200"/>
            <a:ext cx="502920" cy="502920"/>
          </a:xfrm>
          <a:prstGeom prst="oval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6184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67335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Fill form → get a shareable link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All data encoded in URL hash fragment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Nothing stored on server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296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OG-preview optional (minimal metadata)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520440" y="1417320"/>
            <a:ext cx="2606040" cy="301752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03320" y="1600200"/>
            <a:ext cx="502920" cy="502920"/>
          </a:xfrm>
          <a:prstGeom prst="oval">
            <a:avLst/>
          </a:prstGeom>
          <a:solidFill>
            <a:srgbClr val="8B5CF6"/>
          </a:solidFill>
          <a:ln/>
        </p:spPr>
      </p:sp>
      <p:sp>
        <p:nvSpPr>
          <p:cNvPr id="15" name="Text 12"/>
          <p:cNvSpPr/>
          <p:nvPr/>
        </p:nvSpPr>
        <p:spPr>
          <a:xfrm>
            <a:off x="37033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343400" y="16184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&amp; Pay</a:t>
            </a:r>
            <a:endParaRPr lang="en-US" sz="17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673352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0332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Send via Telegram / Discord / Email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70332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Recipient sees professional invoice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703320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SmartPayButton: connect → switch → pay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70332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click, auto network handling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400800" y="1417320"/>
            <a:ext cx="2606040" cy="301752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583680" y="1600200"/>
            <a:ext cx="502920" cy="502920"/>
          </a:xfrm>
          <a:prstGeom prst="oval">
            <a:avLst/>
          </a:prstGeom>
          <a:solidFill>
            <a:srgbClr val="8B5CF6"/>
          </a:solidFill>
          <a:ln/>
        </p:spPr>
      </p:sp>
      <p:sp>
        <p:nvSpPr>
          <p:cNvPr id="24" name="Text 20"/>
          <p:cNvSpPr/>
          <p:nvPr/>
        </p:nvSpPr>
        <p:spPr>
          <a:xfrm>
            <a:off x="65836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7223760" y="16184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7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673352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58368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Magic Dust matching — exact amount = exact invoice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58368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Soft confirmation (3 blocks ETH / 1 L2)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6583680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Finalization in background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58368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Reorg detection + auto-rollback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40080" y="4617720"/>
            <a:ext cx="7863840" cy="365760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32" name="Text 27"/>
          <p:cNvSpPr/>
          <p:nvPr/>
        </p:nvSpPr>
        <p:spPr>
          <a:xfrm>
            <a:off x="822960" y="4617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voidpay.xyz/pay#N4IgbghgTg9g...  ← compressed invoice (hash fragment = private)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Cryptographic Binding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First-ever mathematical link between invoice and transaction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931920" cy="274320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3931920" cy="54864"/>
          </a:xfrm>
          <a:prstGeom prst="rectangl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716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Data (items, amounts, tax, parties)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SHA-256 Hash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Nonce for EIP-3009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Wallet signs transferWithAuthorization(nonce)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0175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On-chain: nonce is permanently recorded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3429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Anyone can verify: SHA-256(invoice) === on-chain nonce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931920" cy="82296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188720"/>
            <a:ext cx="54864" cy="822960"/>
          </a:xfrm>
          <a:prstGeom prst="rectangle">
            <a:avLst/>
          </a:prstGeom>
          <a:solidFill>
            <a:srgbClr val="8B5CF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1325880"/>
            <a:ext cx="502920" cy="502920"/>
          </a:xfrm>
          <a:prstGeom prst="oval">
            <a:avLst/>
          </a:prstGeom>
          <a:solidFill>
            <a:srgbClr val="8B5CF6">
              <a:alpha val="40000"/>
            </a:srgbClr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4638" y="1401318"/>
            <a:ext cx="352044" cy="3520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23560" y="12070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Tamper-Proof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23560" y="1572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field change → different hash → signature invalid. Payment rejected automatically.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46320" y="2148840"/>
            <a:ext cx="3931920" cy="82296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6320" y="2148840"/>
            <a:ext cx="54864" cy="822960"/>
          </a:xfrm>
          <a:prstGeom prst="rectangle">
            <a:avLst/>
          </a:prstGeom>
          <a:solidFill>
            <a:srgbClr val="06D6A0"/>
          </a:solidFill>
          <a:ln/>
        </p:spPr>
      </p:sp>
      <p:sp>
        <p:nvSpPr>
          <p:cNvPr id="20" name="Shape 17"/>
          <p:cNvSpPr/>
          <p:nvPr/>
        </p:nvSpPr>
        <p:spPr>
          <a:xfrm>
            <a:off x="5029200" y="2286000"/>
            <a:ext cx="502920" cy="502920"/>
          </a:xfrm>
          <a:prstGeom prst="oval">
            <a:avLst/>
          </a:prstGeom>
          <a:solidFill>
            <a:srgbClr val="06D6A0">
              <a:alpha val="40000"/>
            </a:srgbClr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638" y="2361438"/>
            <a:ext cx="352044" cy="3520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623560" y="21671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Replay Protection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623560" y="2532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invoice = one unique nonce = one payment. Double payment is mathematically impossible.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846320" y="3108960"/>
            <a:ext cx="3931920" cy="82296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846320" y="3108960"/>
            <a:ext cx="54864" cy="82296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26" name="Shape 22"/>
          <p:cNvSpPr/>
          <p:nvPr/>
        </p:nvSpPr>
        <p:spPr>
          <a:xfrm>
            <a:off x="5029200" y="3246120"/>
            <a:ext cx="502920" cy="502920"/>
          </a:xfrm>
          <a:prstGeom prst="oval">
            <a:avLst/>
          </a:prstGeom>
          <a:solidFill>
            <a:srgbClr val="3B82F6">
              <a:alpha val="40000"/>
            </a:srgbClr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638" y="3321558"/>
            <a:ext cx="352044" cy="3520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623560" y="31272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623560" y="34930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systems reconstruct invoice ↔ transaction binding by scanning nonce on-chain.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40080" y="4206240"/>
            <a:ext cx="7863840" cy="502920"/>
          </a:xfrm>
          <a:prstGeom prst="rectangle">
            <a:avLst/>
          </a:prstGeom>
          <a:solidFill>
            <a:srgbClr val="06D6A0">
              <a:alpha val="12000"/>
            </a:srgbClr>
          </a:solidFill>
          <a:ln/>
        </p:spPr>
      </p:sp>
      <p:sp>
        <p:nvSpPr>
          <p:cNvPr id="31" name="Shape 26"/>
          <p:cNvSpPr/>
          <p:nvPr/>
        </p:nvSpPr>
        <p:spPr>
          <a:xfrm>
            <a:off x="777240" y="4279392"/>
            <a:ext cx="347472" cy="347472"/>
          </a:xfrm>
          <a:prstGeom prst="oval">
            <a:avLst/>
          </a:prstGeom>
          <a:solidFill>
            <a:srgbClr val="06D6A0">
              <a:alpha val="40000"/>
            </a:srgbClr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1" y="4331513"/>
            <a:ext cx="243230" cy="24323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280160" y="4206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 industry: payment transaction cryptographically bound to business document. Not metadata, not memo field — mathematical proof.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Protocol Vision — x402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402 + VoidPay = native web payments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HTTP Cycle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4572000" cy="347472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171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0" y="16002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984248"/>
            <a:ext cx="4572000" cy="347472"/>
          </a:xfrm>
          <a:prstGeom prst="rectangle">
            <a:avLst/>
          </a:prstGeom>
          <a:solidFill>
            <a:srgbClr val="09090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842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171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45920" y="19842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 Payment Required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572000" cy="347472"/>
          </a:xfrm>
          <a:prstGeom prst="rectangle">
            <a:avLst/>
          </a:prstGeom>
          <a:solidFill>
            <a:srgbClr val="27272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36829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X-Payment: voidpay/v1;base62:&lt;invoice&gt;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752344"/>
            <a:ext cx="4572000" cy="347472"/>
          </a:xfrm>
          <a:prstGeom prst="rectangle">
            <a:avLst/>
          </a:prstGeom>
          <a:solidFill>
            <a:srgbClr val="09090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523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171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27523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invoice, verifies terms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136392"/>
            <a:ext cx="4572000" cy="347472"/>
          </a:xfrm>
          <a:prstGeom prst="rectangle">
            <a:avLst/>
          </a:prstGeom>
          <a:solidFill>
            <a:srgbClr val="27272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363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Signs EIP-3009 (nonce = SHA-256(invoice))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4572000" cy="347472"/>
          </a:xfrm>
          <a:prstGeom prst="rectangle">
            <a:avLst/>
          </a:prstGeom>
          <a:solidFill>
            <a:srgbClr val="09090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204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171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645920" y="3520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/api/data + Authorization: x402 &lt;signed&gt;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904488"/>
            <a:ext cx="4572000" cy="347472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044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171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645920" y="39044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signature on-chain, returns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343400"/>
            <a:ext cx="4572000" cy="411480"/>
          </a:xfrm>
          <a:prstGeom prst="rectangle">
            <a:avLst/>
          </a:prstGeom>
          <a:solidFill>
            <a:srgbClr val="06D6A0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343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+ data delivery = one HTTP cycle. No redirects, no gateways, no accounts.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Support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0" y="1645920"/>
            <a:ext cx="3383280" cy="105156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0" y="1645920"/>
            <a:ext cx="3383280" cy="54864"/>
          </a:xfrm>
          <a:prstGeom prst="rectangle">
            <a:avLst/>
          </a:prstGeom>
          <a:solidFill>
            <a:srgbClr val="06D6A0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2: USDC / EURC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0" y="2103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EIP-3009 native — transferWithAuthorization. No approve() needed, gas-free for payer.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0" y="2880360"/>
            <a:ext cx="3383280" cy="105156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0" y="2880360"/>
            <a:ext cx="3383280" cy="54864"/>
          </a:xfrm>
          <a:prstGeom prst="rectangle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3: Any ERC-20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0" y="3337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Permit2 universal approvals + gas sponsorship via ERC-4337 Paymaster.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0" y="4160520"/>
            <a:ext cx="3383280" cy="594360"/>
          </a:xfrm>
          <a:prstGeom prst="rectangl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623560" y="4233672"/>
            <a:ext cx="365760" cy="365760"/>
          </a:xfrm>
          <a:prstGeom prst="oval">
            <a:avLst/>
          </a:prstGeom>
          <a:solidFill>
            <a:srgbClr val="06D6A0">
              <a:alpha val="40000"/>
            </a:srgbClr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8424" y="4288536"/>
            <a:ext cx="256032" cy="256032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6080760" y="4160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VoidPay invoices are the native format for x402 payments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tools for instant integration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931920" cy="237744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3931920" cy="54864"/>
          </a:xfrm>
          <a:prstGeom prst="rectangle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325880"/>
            <a:ext cx="365760" cy="365760"/>
          </a:xfrm>
          <a:prstGeom prst="oval">
            <a:avLst/>
          </a:prstGeom>
          <a:solidFill>
            <a:srgbClr val="8B5CF6">
              <a:alpha val="4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38074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@voidpay/merchant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1783080"/>
            <a:ext cx="3657600" cy="777240"/>
          </a:xfrm>
          <a:prstGeom prst="rectangle">
            <a:avLst/>
          </a:prstGeom>
          <a:solidFill>
            <a:srgbClr val="09090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828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voidpay } from '@voidpay/merchant'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14400" y="20574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app.use(voidpay.middleware({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14400" y="2286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wallet: '0x...', pricing: catalog }))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22960" y="2697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Express / FastAPI middleware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" y="2971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Auto-generates invoices from catalog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" y="3246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Verifies EIP-3009 signatures on-chain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46320" y="1188720"/>
            <a:ext cx="3931920" cy="237744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46320" y="1188720"/>
            <a:ext cx="3931920" cy="54864"/>
          </a:xfrm>
          <a:prstGeom prst="rectangle">
            <a:avLst/>
          </a:prstGeom>
          <a:solidFill>
            <a:srgbClr val="06D6A0"/>
          </a:solidFill>
          <a:ln/>
        </p:spPr>
      </p:sp>
      <p:sp>
        <p:nvSpPr>
          <p:cNvPr id="18" name="Shape 15"/>
          <p:cNvSpPr/>
          <p:nvPr/>
        </p:nvSpPr>
        <p:spPr>
          <a:xfrm>
            <a:off x="5029200" y="1325880"/>
            <a:ext cx="365760" cy="365760"/>
          </a:xfrm>
          <a:prstGeom prst="oval">
            <a:avLst/>
          </a:prstGeom>
          <a:solidFill>
            <a:srgbClr val="06D6A0">
              <a:alpha val="40000"/>
            </a:srgbClr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064" y="1380744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8640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@voidpay/agent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4983480" y="1783080"/>
            <a:ext cx="3657600" cy="777240"/>
          </a:xfrm>
          <a:prstGeom prst="rectangle">
            <a:avLst/>
          </a:prstGeom>
          <a:solidFill>
            <a:srgbClr val="09090B"/>
          </a:solidFill>
          <a:ln/>
        </p:spPr>
      </p:sp>
      <p:sp>
        <p:nvSpPr>
          <p:cNvPr id="22" name="Text 18"/>
          <p:cNvSpPr/>
          <p:nvPr/>
        </p:nvSpPr>
        <p:spPr>
          <a:xfrm>
            <a:off x="5120640" y="1828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agent = new VoidPayAgent({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5120640" y="20574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signer, budget: '100 USDC/day' })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120640" y="2286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data = await agent.fetch(url)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0" y="2697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Auto-parse 402 → decode → verify → sign → retry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029200" y="2971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Budget limits &amp; spending policies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029200" y="3246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Gas abstraction via facilitators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4008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Contract — On-chain Auditor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640080" y="4114800"/>
            <a:ext cx="7863840" cy="502920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30" name="Text 26"/>
          <p:cNvSpPr/>
          <p:nvPr/>
        </p:nvSpPr>
        <p:spPr>
          <a:xfrm>
            <a:off x="822960" y="4114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Emits invoice hash events on every settlement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3566160" y="4114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ERP systems (Oracle, SAP) scan blockchain for auto-reconciliation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6309360" y="4114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access to private merchant data — only hashes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640080" y="4709160"/>
            <a:ext cx="7863840" cy="320040"/>
          </a:xfrm>
          <a:prstGeom prst="rectangl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4" name="Text 30"/>
          <p:cNvSpPr/>
          <p:nvPr/>
        </p:nvSpPr>
        <p:spPr>
          <a:xfrm>
            <a:off x="82296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lines to accept crypto payments  •  3 lines to pay as an AI agent  •  Zero custody risk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Invoice Lifecycle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 lifecycle without a server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365760"/>
          </a:xfrm>
          <a:prstGeom prst="rectangle">
            <a:avLst/>
          </a:prstGeom>
          <a:solidFill>
            <a:srgbClr val="2727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71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71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21208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71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7863840" cy="438912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645920"/>
            <a:ext cx="54864" cy="347472"/>
          </a:xfrm>
          <a:prstGeom prst="rectangl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6002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6002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→ URL hash fragment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12080" y="16002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exists as a link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103120"/>
            <a:ext cx="54864" cy="347472"/>
          </a:xfrm>
          <a:prstGeom prst="rectangle">
            <a:avLst/>
          </a:prstGeom>
          <a:solidFill>
            <a:srgbClr val="06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0574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0574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link / QR / Social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12080" y="20574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transferred P2P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514600"/>
            <a:ext cx="7863840" cy="438912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2560320"/>
            <a:ext cx="54864" cy="347472"/>
          </a:xfrm>
          <a:prstGeom prst="rectangle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5146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5146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EIP-3009 with nonce = SHA-256(invoice)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12080" y="25146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binding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017520"/>
            <a:ext cx="54864" cy="347472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29718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2971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Dust matching + on-chain nonce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12080" y="29718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verification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429000"/>
            <a:ext cx="7863840" cy="438912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3474720"/>
            <a:ext cx="54864" cy="347472"/>
          </a:xfrm>
          <a:prstGeom prst="rectangle">
            <a:avLst/>
          </a:prstGeom>
          <a:solidFill>
            <a:srgbClr val="F43F5E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34290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20240" y="34290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Invalidate hash in facilitator cache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12080" y="34290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revoked payment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3931920"/>
            <a:ext cx="54864" cy="347472"/>
          </a:xfrm>
          <a:prstGeom prst="rectangl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38862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Amend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920240" y="38862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invoice → new hash → new nonce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12080" y="38862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new payer signature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Stateless Invariants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4480560"/>
            <a:ext cx="2606040" cy="502920"/>
          </a:xfrm>
          <a:prstGeom prst="rectangle">
            <a:avLst/>
          </a:prstGeom>
          <a:solidFill>
            <a:srgbClr val="18181B"/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544568"/>
            <a:ext cx="320040" cy="32004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143000" y="4480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is its own state carrier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3520440" y="4480560"/>
            <a:ext cx="2606040" cy="502920"/>
          </a:xfrm>
          <a:prstGeom prst="rectangle">
            <a:avLst/>
          </a:prstGeom>
          <a:solidFill>
            <a:srgbClr val="18181B"/>
          </a:solidFill>
          <a:ln/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4544568"/>
            <a:ext cx="320040" cy="32004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4023360" y="4480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works forever (schema v1 immutable)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6400800" y="4480560"/>
            <a:ext cx="2606040" cy="502920"/>
          </a:xfrm>
          <a:prstGeom prst="rectangle">
            <a:avLst/>
          </a:prstGeom>
          <a:solidFill>
            <a:srgbClr val="18181B"/>
          </a:solidFill>
          <a:ln/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4544568"/>
            <a:ext cx="320040" cy="32004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6903720" y="4480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 of failure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&amp; Competition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$12B crypto invoicing to $3–5T agent commerce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Size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840480" cy="548640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54480"/>
            <a:ext cx="64008" cy="548640"/>
          </a:xfrm>
          <a:prstGeom prst="rectangl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5544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$30T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1460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economy (2030)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3840480" cy="548640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240280"/>
            <a:ext cx="64008" cy="548640"/>
          </a:xfrm>
          <a:prstGeom prst="rectangle">
            <a:avLst/>
          </a:prstGeom>
          <a:solidFill>
            <a:srgbClr val="06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2402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22402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$3–5T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14600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agent commerce + crypto invoicing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3840480" cy="548640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926080"/>
            <a:ext cx="64008" cy="548640"/>
          </a:xfrm>
          <a:prstGeom prst="rectangl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9260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08760" y="29260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$500M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51460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Privacy-first, no-KYC segment (Year 1)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Positioning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15087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VoidPay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20840" y="15087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06640" y="15087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Superfluid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92440" y="15087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1828800"/>
            <a:ext cx="3931920" cy="310896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8288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35040" y="182880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0840" y="182880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06640" y="182880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92440" y="182880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21396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35040" y="213969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20840" y="213969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06640" y="213969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92440" y="213969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2450592"/>
            <a:ext cx="3931920" cy="310896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24505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invoice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035040" y="245059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20840" y="245059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06640" y="245059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92440" y="245059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37760" y="27614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AI-agent (x402)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035040" y="276148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20840" y="276148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06640" y="276148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092440" y="276148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46320" y="3072384"/>
            <a:ext cx="3931920" cy="310896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49" name="Text 47"/>
          <p:cNvSpPr/>
          <p:nvPr/>
        </p:nvSpPr>
        <p:spPr>
          <a:xfrm>
            <a:off x="4937760" y="307238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binding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035040" y="307238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720840" y="307238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406640" y="307238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092440" y="307238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937760" y="33832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Multi-chain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035040" y="338328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720840" y="338328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406640" y="338328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092440" y="338328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846320" y="3694176"/>
            <a:ext cx="3931920" cy="310896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60" name="Text 58"/>
          <p:cNvSpPr/>
          <p:nvPr/>
        </p:nvSpPr>
        <p:spPr>
          <a:xfrm>
            <a:off x="4937760" y="36941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Immortal links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035040" y="369417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720840" y="369417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406640" y="369417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092440" y="369417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40080" y="4434840"/>
            <a:ext cx="7863840" cy="457200"/>
          </a:xfrm>
          <a:prstGeom prst="rectangl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822960" y="4434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protocol with cryptographic invoice-transaction binding + zero server dependency + x402 native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product. Protocol revenue.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4846320" cy="411480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" cy="411480"/>
          </a:xfrm>
          <a:prstGeom prst="rectangle">
            <a:avLst/>
          </a:prstGeom>
          <a:solidFill>
            <a:srgbClr val="06D6A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8872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(Now)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traction building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9184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(growth)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4846320" cy="411480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664208"/>
            <a:ext cx="54864" cy="411480"/>
          </a:xfrm>
          <a:prstGeom prst="rectangl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66420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16642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fees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91840" y="16642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0.1–0.5% on x402 txs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139696"/>
            <a:ext cx="4846320" cy="411480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139696"/>
            <a:ext cx="54864" cy="411480"/>
          </a:xfrm>
          <a:prstGeom prst="rectangl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139696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0" y="21396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SDK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91840" y="213969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SLA, priority RPC, analytics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615184"/>
            <a:ext cx="4846320" cy="411480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615184"/>
            <a:ext cx="54864" cy="41148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2615184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28800" y="261518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fees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91840" y="261518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Micro-fee on smart contract settlement (opt-in)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090672"/>
            <a:ext cx="4846320" cy="411480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090672"/>
            <a:ext cx="54864" cy="41148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309067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28800" y="30906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services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91840" y="30906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invoice analytics for DeFi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1051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Economics (Phase 2)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760720" y="1417320"/>
            <a:ext cx="3108960" cy="260604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43600" y="15544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invoice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0" y="15544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43600" y="19385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fee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0" y="19385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0.3% ($1.50)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0" y="232257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invoices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98080" y="23225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10K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43600" y="27066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98080" y="27066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$15K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43600" y="30906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98080" y="30906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~95%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943600" y="3474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cost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98080" y="3474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≈0 (no backend)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today. Protocol tomorrow. Network by 2027.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481328"/>
            <a:ext cx="256032" cy="256032"/>
          </a:xfrm>
          <a:prstGeom prst="oval">
            <a:avLst/>
          </a:prstGeom>
          <a:solidFill>
            <a:srgbClr val="06D6A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37360"/>
            <a:ext cx="73152" cy="658368"/>
          </a:xfrm>
          <a:prstGeom prst="rectangle">
            <a:avLst/>
          </a:prstGeom>
          <a:solidFill>
            <a:srgbClr val="3F3F4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371600"/>
            <a:ext cx="7315200" cy="77724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371600"/>
            <a:ext cx="64008" cy="777240"/>
          </a:xfrm>
          <a:prstGeom prst="rectangle">
            <a:avLst/>
          </a:prstGeom>
          <a:solidFill>
            <a:srgbClr val="06D6A0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3990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1: Product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0" y="13990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Q4’25 – Q1’26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444752"/>
            <a:ext cx="1463040" cy="256032"/>
          </a:xfrm>
          <a:prstGeom prst="rectangle">
            <a:avLst/>
          </a:prstGeom>
          <a:solidFill>
            <a:srgbClr val="06D6A0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14447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94%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176479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invoice app — create, share, pay, verify. 4 chains, Magic Dust, 2K+ tests.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2395728"/>
            <a:ext cx="256032" cy="256032"/>
          </a:xfrm>
          <a:prstGeom prst="oval">
            <a:avLst/>
          </a:prstGeom>
          <a:solidFill>
            <a:srgbClr val="8B5C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2651760"/>
            <a:ext cx="73152" cy="658368"/>
          </a:xfrm>
          <a:prstGeom prst="rectangle">
            <a:avLst/>
          </a:prstGeom>
          <a:solidFill>
            <a:srgbClr val="3F3F46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2286000"/>
            <a:ext cx="7315200" cy="77724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0" y="2286000"/>
            <a:ext cx="64008" cy="777240"/>
          </a:xfrm>
          <a:prstGeom prst="rectangl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2313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2: Protocol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0" y="23134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Q2’26 – Q4’26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2359152"/>
            <a:ext cx="1463040" cy="256032"/>
          </a:xfrm>
          <a:prstGeom prst="rectangle">
            <a:avLst/>
          </a:prstGeom>
          <a:solidFill>
            <a:srgbClr val="8B5CF6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23591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Design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267919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middleware, EIP-3009 nonce binding, @voidpay/merchant + @voidpay/agent SDK, VoidPay Invoice Standard (open spec).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3310128"/>
            <a:ext cx="256032" cy="256032"/>
          </a:xfrm>
          <a:prstGeom prst="oval">
            <a:avLst/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" y="3200400"/>
            <a:ext cx="7315200" cy="77724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371600" y="3200400"/>
            <a:ext cx="64008" cy="77724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1645920" y="32278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3: Network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89120" y="32278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3273552"/>
            <a:ext cx="1463040" cy="256032"/>
          </a:xfrm>
          <a:prstGeom prst="rectangle">
            <a:avLst/>
          </a:prstGeom>
          <a:solidFill>
            <a:srgbClr val="3B82F6">
              <a:alpha val="2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3273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Vision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45920" y="359359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registry, facilitator network, Permit2 multi-token, agent bazaar, on-chain audit events.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Milestones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446227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SDK public beta → 3 facilitator partners → 1,000 monthly active invoices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" y="469087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Integration with 2+ AI agent frameworks (Claude MCP, LangChain)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" y="491947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 standard proposal (VoidPay Invoice Standard)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114800" cy="4114800"/>
          </a:xfrm>
          <a:prstGeom prst="oval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oval">
            <a:avLst/>
          </a:prstGeom>
          <a:solidFill>
            <a:srgbClr val="06D6A0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invoice standard for the agent economy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Funds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4718304" cy="320040"/>
          </a:xfrm>
          <a:prstGeom prst="rectangle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4718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60%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58384" y="1965960"/>
            <a:ext cx="1965960" cy="320040"/>
          </a:xfrm>
          <a:prstGeom prst="rectangle">
            <a:avLst/>
          </a:prstGeom>
          <a:solidFill>
            <a:srgbClr val="06D6A0"/>
          </a:solidFill>
          <a:ln/>
        </p:spPr>
      </p:sp>
      <p:sp>
        <p:nvSpPr>
          <p:cNvPr id="10" name="Text 8"/>
          <p:cNvSpPr/>
          <p:nvPr/>
        </p:nvSpPr>
        <p:spPr>
          <a:xfrm>
            <a:off x="5358384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25%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24344" y="1965960"/>
            <a:ext cx="1179576" cy="32004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542032"/>
            <a:ext cx="137160" cy="137160"/>
          </a:xfrm>
          <a:prstGeom prst="rectangl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468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(60%)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06040" y="24688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SDK, smart contract, facilitator network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862072"/>
            <a:ext cx="137160" cy="137160"/>
          </a:xfrm>
          <a:prstGeom prst="rectangle">
            <a:avLst/>
          </a:prstGeom>
          <a:solidFill>
            <a:srgbClr val="06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7889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(25%)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06040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partnerships, developer relations, hackathons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182112"/>
            <a:ext cx="137160" cy="13716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1089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(15%)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06040" y="3108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infrastructure, security audits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Round Unlocks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0" y="1965960"/>
            <a:ext cx="3840480" cy="2240280"/>
          </a:xfrm>
          <a:prstGeom prst="rectangle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12080" y="21031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Phase 1 launch (product live)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24963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SDK public beta + 3 facilitator partners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28895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1,000 monthly active invoices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32826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Integration with 2+ AI agent frameworks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36758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VoidPay Invoice Standard — open spec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931920"/>
            <a:ext cx="7863840" cy="502920"/>
          </a:xfrm>
          <a:prstGeom prst="rectangle">
            <a:avLst/>
          </a:prstGeom>
          <a:solidFill>
            <a:srgbClr val="06D6A0">
              <a:alpha val="1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9319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ecosystem: 100M+ transactions, $24M volume, Base finality 2s — the infrastructure is proven. We’re building the missing invoice layer.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572000"/>
            <a:ext cx="7863840" cy="502920"/>
          </a:xfrm>
          <a:prstGeom prst="rectangle">
            <a:avLst/>
          </a:prstGeom>
          <a:solidFill>
            <a:srgbClr val="18181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Ignat Romanov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080" y="482803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ign.romanov@gmail.com  |  voidpay.xyz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VoidPay - Pitch Deck</dc:title>
  <dc:subject>PptxGenJS Presentation</dc:subject>
  <dc:creator>Ignat Romanov</dc:creator>
  <cp:lastModifiedBy>Ignat Romanov</cp:lastModifiedBy>
  <cp:revision>1</cp:revision>
  <dcterms:created xsi:type="dcterms:W3CDTF">2026-03-15T01:40:35Z</dcterms:created>
  <dcterms:modified xsi:type="dcterms:W3CDTF">2026-03-15T01:40:35Z</dcterms:modified>
</cp:coreProperties>
</file>